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7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020"/>
    <a:srgbClr val="FFB86B"/>
    <a:srgbClr val="7CFFB2"/>
    <a:srgbClr val="B7C0D4"/>
    <a:srgbClr val="36C2FF"/>
    <a:srgbClr val="2BA97F"/>
    <a:srgbClr val="4CC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ntu\114-2\python&#36039;&#26009;&#20998;&#26512;\travel_clustering_project_import_openstreetmap\data\recommendation_method_comparison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r>
              <a:rPr lang="zh-TW" altLang="en-US" dirty="0"/>
              <a:t>不同</a:t>
            </a:r>
            <a:r>
              <a:rPr lang="en-US" altLang="zh-TW" dirty="0"/>
              <a:t>cluster</a:t>
            </a:r>
            <a:r>
              <a:rPr lang="zh-TW" altLang="en-US" dirty="0"/>
              <a:t>方法</a:t>
            </a:r>
            <a:endParaRPr lang="zh-TW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recommendation_method_compariso!$B$1</c:f>
              <c:strCache>
                <c:ptCount val="1"/>
                <c:pt idx="0">
                  <c:v>mean_similarity</c:v>
                </c:pt>
              </c:strCache>
            </c:strRef>
          </c:tx>
          <c:spPr>
            <a:solidFill>
              <a:schemeClr val="accent6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recommendation_method_compariso!$A$2:$A$5</c:f>
              <c:strCache>
                <c:ptCount val="4"/>
                <c:pt idx="0">
                  <c:v>personal_only</c:v>
                </c:pt>
                <c:pt idx="1">
                  <c:v>cluster_only</c:v>
                </c:pt>
                <c:pt idx="2">
                  <c:v>collaborative_only</c:v>
                </c:pt>
                <c:pt idx="3">
                  <c:v>hybrid</c:v>
                </c:pt>
              </c:strCache>
            </c:strRef>
          </c:cat>
          <c:val>
            <c:numRef>
              <c:f>recommendation_method_compariso!$B$2:$B$5</c:f>
              <c:numCache>
                <c:formatCode>General</c:formatCode>
                <c:ptCount val="4"/>
                <c:pt idx="0">
                  <c:v>0.93022837264178004</c:v>
                </c:pt>
                <c:pt idx="1">
                  <c:v>0.921870447679486</c:v>
                </c:pt>
                <c:pt idx="2">
                  <c:v>0.91420287476527395</c:v>
                </c:pt>
                <c:pt idx="3">
                  <c:v>0.92818226025626904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AF-48F7-B7EA-CC114A06C9D4}"/>
            </c:ext>
          </c:extLst>
        </c:ser>
        <c:ser>
          <c:idx val="1"/>
          <c:order val="1"/>
          <c:tx>
            <c:strRef>
              <c:f>recommendation_method_compariso!$C$1</c:f>
              <c:strCache>
                <c:ptCount val="1"/>
                <c:pt idx="0">
                  <c:v>random_baseline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recommendation_method_compariso!$A$2:$A$5</c:f>
              <c:strCache>
                <c:ptCount val="4"/>
                <c:pt idx="0">
                  <c:v>personal_only</c:v>
                </c:pt>
                <c:pt idx="1">
                  <c:v>cluster_only</c:v>
                </c:pt>
                <c:pt idx="2">
                  <c:v>collaborative_only</c:v>
                </c:pt>
                <c:pt idx="3">
                  <c:v>hybrid</c:v>
                </c:pt>
              </c:strCache>
            </c:strRef>
          </c:cat>
          <c:val>
            <c:numRef>
              <c:f>recommendation_method_compariso!$C$2:$C$5</c:f>
              <c:numCache>
                <c:formatCode>General</c:formatCode>
                <c:ptCount val="4"/>
                <c:pt idx="0">
                  <c:v>0.83083985147016304</c:v>
                </c:pt>
                <c:pt idx="1">
                  <c:v>0.83083985147016304</c:v>
                </c:pt>
                <c:pt idx="2">
                  <c:v>0.83083985147016304</c:v>
                </c:pt>
                <c:pt idx="3">
                  <c:v>0.83083985147016304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AF-48F7-B7EA-CC114A06C9D4}"/>
            </c:ext>
          </c:extLst>
        </c:ser>
        <c:ser>
          <c:idx val="2"/>
          <c:order val="2"/>
          <c:tx>
            <c:strRef>
              <c:f>recommendation_method_compariso!$D$1</c:f>
              <c:strCache>
                <c:ptCount val="1"/>
                <c:pt idx="0">
                  <c:v>recommendation_lift</c:v>
                </c:pt>
              </c:strCache>
            </c:strRef>
          </c:tx>
          <c:spPr>
            <a:solidFill>
              <a:schemeClr val="accent6">
                <a:tint val="6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recommendation_method_compariso!$A$2:$A$5</c:f>
              <c:strCache>
                <c:ptCount val="4"/>
                <c:pt idx="0">
                  <c:v>personal_only</c:v>
                </c:pt>
                <c:pt idx="1">
                  <c:v>cluster_only</c:v>
                </c:pt>
                <c:pt idx="2">
                  <c:v>collaborative_only</c:v>
                </c:pt>
                <c:pt idx="3">
                  <c:v>hybrid</c:v>
                </c:pt>
              </c:strCache>
            </c:strRef>
          </c:cat>
          <c:val>
            <c:numRef>
              <c:f>recommendation_method_compariso!$D$2:$D$5</c:f>
              <c:numCache>
                <c:formatCode>General</c:formatCode>
                <c:ptCount val="4"/>
                <c:pt idx="0">
                  <c:v>9.9388521171617006E-2</c:v>
                </c:pt>
                <c:pt idx="1">
                  <c:v>9.1030596209322898E-2</c:v>
                </c:pt>
                <c:pt idx="2">
                  <c:v>8.3363023295110902E-2</c:v>
                </c:pt>
                <c:pt idx="3">
                  <c:v>9.7342408786106199E-2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AF-48F7-B7EA-CC114A06C9D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76583440"/>
        <c:axId val="1976583856"/>
      </c:barChart>
      <c:catAx>
        <c:axId val="197658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976583856"/>
        <c:crosses val="autoZero"/>
        <c:auto val="1"/>
        <c:lblAlgn val="ctr"/>
        <c:lblOffset val="100"/>
        <c:noMultiLvlLbl val="0"/>
      </c:catAx>
      <c:valAx>
        <c:axId val="19765838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r>
                  <a:rPr lang="en-US" altLang="zh-TW" dirty="0"/>
                  <a:t>Mean similarity</a:t>
                </a:r>
                <a:endParaRPr lang="zh-TW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defRPr>
              </a:pPr>
              <a:endParaRPr lang="zh-TW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97658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>
          <a:solidFill>
            <a:schemeClr val="bg1"/>
          </a:solidFill>
          <a:latin typeface="微軟正黑體" panose="020B0604030504040204" pitchFamily="34" charset="-120"/>
          <a:ea typeface="微軟正黑體" panose="020B0604030504040204" pitchFamily="34" charset="-120"/>
        </a:defRPr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167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25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具可解釋性的</a:t>
            </a:r>
            <a:endParaRPr 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184708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C2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Soft Clustering</a:t>
            </a:r>
            <a:endParaRPr 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2542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旅遊景點推薦與決策支援系統</a:t>
            </a:r>
            <a:endParaRPr 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3232" y="342900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B0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不只推薦景點，也說明使用者像哪一類旅客、模型有多確定、推薦理由是什麼。</a:t>
            </a:r>
            <a:endParaRPr lang="en-US" sz="1600" b="1" dirty="0">
              <a:solidFill>
                <a:srgbClr val="00B0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799" y="3886200"/>
            <a:ext cx="8753475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B11508030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劉智昇：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OSM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景點資料獲取與特徵轉換、旅遊偏好資料與互動資料整合、特徵前處理、模型選擇與訓練、推薦方法實作、結果分析、報告撰寫。</a:t>
            </a:r>
          </a:p>
          <a:p>
            <a:pPr marL="0" indent="0">
              <a:buNone/>
            </a:pPr>
            <a:endParaRPr lang="zh-TW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B11508023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許乃中：使用者互動資料整理、特徵前處理協助、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cluster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測試案例設計、推薦結果合理性檢查、報告撰寫。</a:t>
            </a:r>
          </a:p>
          <a:p>
            <a:pPr marL="0" indent="0">
              <a:buNone/>
            </a:pPr>
            <a:endParaRPr lang="zh-TW" alt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Noto Sans CJK TC" pitchFamily="34" charset="-120"/>
            </a:endParaRPr>
          </a:p>
          <a:p>
            <a:pPr marL="0" indent="0">
              <a:buNone/>
            </a:pP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B11502142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高宇宏：</a:t>
            </a:r>
            <a:r>
              <a:rPr lang="en-US" altLang="zh-TW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OSM </a:t>
            </a: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景點資料類型整理、旅遊偏好資料檢查、推薦方法比較整理、結果分析、簡報製作。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問題背景：旅遊推薦不能只給清單</a:t>
            </a:r>
            <a:endParaRPr 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207008"/>
            <a:ext cx="3364992" cy="438912"/>
          </a:xfrm>
          <a:prstGeom prst="rect">
            <a:avLst/>
          </a:prstGeom>
          <a:solidFill>
            <a:srgbClr val="10233C"/>
          </a:solidFill>
          <a:ln w="12700">
            <a:solidFill>
              <a:srgbClr val="36C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使用者真正考慮的是多因素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3364992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預算與可用時間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天氣、體力與同行情境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自然、文化、美食、拍照、熱門程度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26280" y="1207008"/>
            <a:ext cx="3364992" cy="438912"/>
          </a:xfrm>
          <a:prstGeom prst="rect">
            <a:avLst/>
          </a:prstGeom>
          <a:solidFill>
            <a:srgbClr val="2B1B2A"/>
          </a:solidFill>
          <a:ln w="12700"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傳統搜尋常只給排序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26280" y="1783080"/>
            <a:ext cx="3364992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熱門度、評分、關鍵字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缺少使用者情境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不一定知道為什麼推薦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66760" y="1207008"/>
            <a:ext cx="2971800" cy="438912"/>
          </a:xfrm>
          <a:prstGeom prst="rect">
            <a:avLst/>
          </a:prstGeom>
          <a:solidFill>
            <a:srgbClr val="112A25"/>
          </a:solidFill>
          <a:ln w="12700">
            <a:solidFill>
              <a:srgbClr val="7CFFB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本系統補上的資訊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66760" y="1783080"/>
            <a:ext cx="297180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推薦景點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偏好族群解釋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模型信心與不確定性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063BF3A3-6CC5-4941-9433-A3FEEF59EEB7}"/>
              </a:ext>
            </a:extLst>
          </p:cNvPr>
          <p:cNvSpPr/>
          <p:nvPr/>
        </p:nvSpPr>
        <p:spPr>
          <a:xfrm>
            <a:off x="502920" y="3443759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傳統推薦 vs 可解釋推薦</a:t>
            </a:r>
            <a:endParaRPr lang="en-US" sz="2400" b="1" dirty="0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36D221F8-DDDC-4AF4-B9CC-F19ED23F5F4E}"/>
              </a:ext>
            </a:extLst>
          </p:cNvPr>
          <p:cNvSpPr/>
          <p:nvPr/>
        </p:nvSpPr>
        <p:spPr>
          <a:xfrm>
            <a:off x="685800" y="4175279"/>
            <a:ext cx="4773168" cy="1691640"/>
          </a:xfrm>
          <a:prstGeom prst="roundRect">
            <a:avLst>
              <a:gd name="adj" fmla="val 4324"/>
            </a:avLst>
          </a:prstGeom>
          <a:solidFill>
            <a:srgbClr val="121827">
              <a:alpha val="92000"/>
            </a:srgbClr>
          </a:solidFill>
          <a:ln w="15240">
            <a:solidFill>
              <a:srgbClr val="FF5470"/>
            </a:solidFill>
            <a:prstDash val="solid"/>
          </a:ln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1ECF7204-A793-4988-91B7-3E12919B1B1E}"/>
              </a:ext>
            </a:extLst>
          </p:cNvPr>
          <p:cNvSpPr/>
          <p:nvPr/>
        </p:nvSpPr>
        <p:spPr>
          <a:xfrm>
            <a:off x="960120" y="438559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傳統推薦</a:t>
            </a:r>
            <a:endParaRPr lang="en-US" sz="1600" b="1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FF39198F-75AB-4988-B727-BA999C15410B}"/>
              </a:ext>
            </a:extLst>
          </p:cNvPr>
          <p:cNvSpPr/>
          <p:nvPr/>
        </p:nvSpPr>
        <p:spPr>
          <a:xfrm>
            <a:off x="960120" y="4769639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熱門度 / 評分 / 關鍵字 → 景點清單</a:t>
            </a:r>
            <a:endParaRPr lang="en-US" sz="1600" b="1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3096FA9F-0C9D-4CF7-847E-256951E135E0}"/>
              </a:ext>
            </a:extLst>
          </p:cNvPr>
          <p:cNvSpPr/>
          <p:nvPr/>
        </p:nvSpPr>
        <p:spPr>
          <a:xfrm>
            <a:off x="960120" y="5181119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CA5A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問題：使用者看不到「為什麼」</a:t>
            </a:r>
            <a:endParaRPr lang="en-US" sz="1600" b="1" dirty="0"/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E2CDB94C-2A29-49A4-A48B-11979EC145D3}"/>
              </a:ext>
            </a:extLst>
          </p:cNvPr>
          <p:cNvSpPr/>
          <p:nvPr/>
        </p:nvSpPr>
        <p:spPr>
          <a:xfrm>
            <a:off x="6565392" y="4175279"/>
            <a:ext cx="4773168" cy="1691640"/>
          </a:xfrm>
          <a:prstGeom prst="roundRect">
            <a:avLst>
              <a:gd name="adj" fmla="val 4324"/>
            </a:avLst>
          </a:prstGeom>
          <a:solidFill>
            <a:srgbClr val="121827">
              <a:alpha val="92000"/>
            </a:srgbClr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3BACB0A4-6A82-4AB2-86F4-95DE4CF920A4}"/>
              </a:ext>
            </a:extLst>
          </p:cNvPr>
          <p:cNvSpPr/>
          <p:nvPr/>
        </p:nvSpPr>
        <p:spPr>
          <a:xfrm>
            <a:off x="6839712" y="438559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本系統</a:t>
            </a:r>
            <a:endParaRPr lang="en-US" sz="1600" b="1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4ACCFDA8-4B9F-4BF1-B571-357A2AD506F3}"/>
              </a:ext>
            </a:extLst>
          </p:cNvPr>
          <p:cNvSpPr/>
          <p:nvPr/>
        </p:nvSpPr>
        <p:spPr>
          <a:xfrm>
            <a:off x="6839712" y="4769639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4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使用者條件 → 偏好族群 + 信心 → 推薦景點</a:t>
            </a:r>
            <a:endParaRPr lang="en-US" sz="1600" b="1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B5927CE-D300-4500-A2DA-CC6DA1C1DBD0}"/>
              </a:ext>
            </a:extLst>
          </p:cNvPr>
          <p:cNvSpPr/>
          <p:nvPr/>
        </p:nvSpPr>
        <p:spPr>
          <a:xfrm>
            <a:off x="6839712" y="5181119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F3D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重點：推薦結果可理解、可檢查</a:t>
            </a:r>
            <a:endParaRPr lang="en-US" sz="1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系統概念：輸入、判斷、推薦、解釋</a:t>
            </a:r>
            <a:endParaRPr lang="en-US" sz="3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2331720" cy="960120"/>
          </a:xfrm>
          <a:prstGeom prst="rect">
            <a:avLst/>
          </a:prstGeom>
          <a:solidFill>
            <a:srgbClr val="10233C"/>
          </a:solidFill>
          <a:ln w="12700">
            <a:solidFill>
              <a:srgbClr val="36C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使用者輸入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預算、時間、天氣、偏好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06324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→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66160" y="1508760"/>
            <a:ext cx="2057400" cy="960120"/>
          </a:xfrm>
          <a:prstGeom prst="rect">
            <a:avLst/>
          </a:prstGeom>
          <a:solidFill>
            <a:srgbClr val="151B2D"/>
          </a:solidFill>
          <a:ln w="12700">
            <a:solidFill>
              <a:srgbClr val="B7C0D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模型判斷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比較像哪些旅遊族群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1500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→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0" y="1508760"/>
            <a:ext cx="2240280" cy="960120"/>
          </a:xfrm>
          <a:prstGeom prst="rect">
            <a:avLst/>
          </a:prstGeom>
          <a:solidFill>
            <a:srgbClr val="112A25"/>
          </a:solidFill>
          <a:ln w="12700">
            <a:solidFill>
              <a:srgbClr val="7CFFB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景點推薦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用偏好或群體平均排序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49640" y="1764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→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052560" y="1508760"/>
            <a:ext cx="2499360" cy="960120"/>
          </a:xfrm>
          <a:prstGeom prst="rect">
            <a:avLst/>
          </a:prstGeom>
          <a:solidFill>
            <a:srgbClr val="302317"/>
          </a:solidFill>
          <a:ln w="12700">
            <a:solidFill>
              <a:srgbClr val="FFB86B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可檢查證據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confidence、probability、heatmap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F763DC63-557E-4E1E-93B7-273A03987497}"/>
              </a:ext>
            </a:extLst>
          </p:cNvPr>
          <p:cNvSpPr/>
          <p:nvPr/>
        </p:nvSpPr>
        <p:spPr>
          <a:xfrm>
            <a:off x="502920" y="3401568"/>
            <a:ext cx="8942832" cy="5394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使用者最後不是只拿到「去哪裡」，而是拿到四個可判斷的資訊。</a:t>
            </a:r>
            <a:endParaRPr lang="en-US" sz="2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Shape 19">
            <a:extLst>
              <a:ext uri="{FF2B5EF4-FFF2-40B4-BE49-F238E27FC236}">
                <a16:creationId xmlns:a16="http://schemas.microsoft.com/office/drawing/2014/main" id="{B8DE817B-D355-4994-8E3C-508FB0EF21E3}"/>
              </a:ext>
            </a:extLst>
          </p:cNvPr>
          <p:cNvSpPr/>
          <p:nvPr/>
        </p:nvSpPr>
        <p:spPr>
          <a:xfrm>
            <a:off x="640080" y="4407408"/>
            <a:ext cx="2448000" cy="936000"/>
          </a:xfrm>
          <a:prstGeom prst="roundRect">
            <a:avLst/>
          </a:prstGeom>
          <a:solidFill>
            <a:srgbClr val="0B1426"/>
          </a:solidFill>
          <a:ln w="15240">
            <a:solidFill>
              <a:srgbClr val="36C2FF"/>
            </a:solidFill>
            <a:prstDash val="solid"/>
          </a:ln>
        </p:spPr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50F1F262-F87D-4385-9CD6-8BAEC65C0C86}"/>
              </a:ext>
            </a:extLst>
          </p:cNvPr>
          <p:cNvSpPr/>
          <p:nvPr/>
        </p:nvSpPr>
        <p:spPr>
          <a:xfrm>
            <a:off x="795528" y="4553712"/>
            <a:ext cx="21579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推薦景點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644DA149-C96B-40CC-A16C-356AB01C6234}"/>
              </a:ext>
            </a:extLst>
          </p:cNvPr>
          <p:cNvSpPr/>
          <p:nvPr/>
        </p:nvSpPr>
        <p:spPr>
          <a:xfrm>
            <a:off x="795528" y="4882896"/>
            <a:ext cx="215798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有哪些地點適合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7EF7816A-389E-49BC-A2CB-60905917E6BF}"/>
              </a:ext>
            </a:extLst>
          </p:cNvPr>
          <p:cNvSpPr/>
          <p:nvPr/>
        </p:nvSpPr>
        <p:spPr>
          <a:xfrm>
            <a:off x="3461361" y="4405752"/>
            <a:ext cx="2448000" cy="936000"/>
          </a:xfrm>
          <a:prstGeom prst="roundRect">
            <a:avLst/>
          </a:prstGeom>
          <a:solidFill>
            <a:srgbClr val="0B1426"/>
          </a:solidFill>
          <a:ln w="15240">
            <a:solidFill>
              <a:srgbClr val="B7C0D4"/>
            </a:solidFill>
            <a:prstDash val="solid"/>
          </a:ln>
        </p:spPr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E2C91830-6A01-48E2-9966-DD4B7B47E68A}"/>
              </a:ext>
            </a:extLst>
          </p:cNvPr>
          <p:cNvSpPr/>
          <p:nvPr/>
        </p:nvSpPr>
        <p:spPr>
          <a:xfrm>
            <a:off x="3616809" y="4552056"/>
            <a:ext cx="21579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偏好族群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E010D35B-E49B-4C68-9517-9266DDF94978}"/>
              </a:ext>
            </a:extLst>
          </p:cNvPr>
          <p:cNvSpPr/>
          <p:nvPr/>
        </p:nvSpPr>
        <p:spPr>
          <a:xfrm>
            <a:off x="3616809" y="4881240"/>
            <a:ext cx="215798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我比較像哪類旅客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Shape 25">
            <a:extLst>
              <a:ext uri="{FF2B5EF4-FFF2-40B4-BE49-F238E27FC236}">
                <a16:creationId xmlns:a16="http://schemas.microsoft.com/office/drawing/2014/main" id="{BB39C03A-25B2-4D64-A0E0-E3B06396981A}"/>
              </a:ext>
            </a:extLst>
          </p:cNvPr>
          <p:cNvSpPr/>
          <p:nvPr/>
        </p:nvSpPr>
        <p:spPr>
          <a:xfrm>
            <a:off x="6282642" y="4405752"/>
            <a:ext cx="2448000" cy="936000"/>
          </a:xfrm>
          <a:prstGeom prst="roundRect">
            <a:avLst/>
          </a:prstGeom>
          <a:solidFill>
            <a:srgbClr val="0B1426"/>
          </a:solidFill>
          <a:ln w="15240">
            <a:solidFill>
              <a:srgbClr val="7CFFB2"/>
            </a:solidFill>
            <a:prstDash val="solid"/>
          </a:ln>
        </p:spPr>
      </p:sp>
      <p:sp>
        <p:nvSpPr>
          <p:cNvPr id="24" name="Text 26">
            <a:extLst>
              <a:ext uri="{FF2B5EF4-FFF2-40B4-BE49-F238E27FC236}">
                <a16:creationId xmlns:a16="http://schemas.microsoft.com/office/drawing/2014/main" id="{6C5F1681-CF62-4708-B521-6C17B90CB902}"/>
              </a:ext>
            </a:extLst>
          </p:cNvPr>
          <p:cNvSpPr/>
          <p:nvPr/>
        </p:nvSpPr>
        <p:spPr>
          <a:xfrm>
            <a:off x="6438090" y="4552056"/>
            <a:ext cx="21579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模型信心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Text 27">
            <a:extLst>
              <a:ext uri="{FF2B5EF4-FFF2-40B4-BE49-F238E27FC236}">
                <a16:creationId xmlns:a16="http://schemas.microsoft.com/office/drawing/2014/main" id="{9314B71B-E7EA-42CB-8587-E591D3972E83}"/>
              </a:ext>
            </a:extLst>
          </p:cNvPr>
          <p:cNvSpPr/>
          <p:nvPr/>
        </p:nvSpPr>
        <p:spPr>
          <a:xfrm>
            <a:off x="6438090" y="4881240"/>
            <a:ext cx="215798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這個判斷有多確定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Shape 28">
            <a:extLst>
              <a:ext uri="{FF2B5EF4-FFF2-40B4-BE49-F238E27FC236}">
                <a16:creationId xmlns:a16="http://schemas.microsoft.com/office/drawing/2014/main" id="{8B2F21BC-0AC5-4832-AA0E-9117B3F70D51}"/>
              </a:ext>
            </a:extLst>
          </p:cNvPr>
          <p:cNvSpPr/>
          <p:nvPr/>
        </p:nvSpPr>
        <p:spPr>
          <a:xfrm>
            <a:off x="9103922" y="4407408"/>
            <a:ext cx="2448000" cy="936000"/>
          </a:xfrm>
          <a:prstGeom prst="roundRect">
            <a:avLst/>
          </a:prstGeom>
          <a:solidFill>
            <a:srgbClr val="0B1426"/>
          </a:solidFill>
          <a:ln w="15240">
            <a:solidFill>
              <a:srgbClr val="FFB86B"/>
            </a:solidFill>
            <a:prstDash val="solid"/>
          </a:ln>
        </p:spPr>
      </p:sp>
      <p:sp>
        <p:nvSpPr>
          <p:cNvPr id="27" name="Text 29">
            <a:extLst>
              <a:ext uri="{FF2B5EF4-FFF2-40B4-BE49-F238E27FC236}">
                <a16:creationId xmlns:a16="http://schemas.microsoft.com/office/drawing/2014/main" id="{D1DC2B06-A0BC-44FD-9905-C9895C943D6F}"/>
              </a:ext>
            </a:extLst>
          </p:cNvPr>
          <p:cNvSpPr/>
          <p:nvPr/>
        </p:nvSpPr>
        <p:spPr>
          <a:xfrm>
            <a:off x="9259370" y="4553712"/>
            <a:ext cx="2157984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解釋證據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Text 30">
            <a:extLst>
              <a:ext uri="{FF2B5EF4-FFF2-40B4-BE49-F238E27FC236}">
                <a16:creationId xmlns:a16="http://schemas.microsoft.com/office/drawing/2014/main" id="{829F9227-A3A3-4A50-B354-CED05D187BC8}"/>
              </a:ext>
            </a:extLst>
          </p:cNvPr>
          <p:cNvSpPr/>
          <p:nvPr/>
        </p:nvSpPr>
        <p:spPr>
          <a:xfrm>
            <a:off x="9259370" y="4882896"/>
            <a:ext cx="215798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哪些特徵支撐判斷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資料來源與</a:t>
            </a:r>
            <a:r>
              <a:rPr lang="zh-TW" altLang="en-US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系統限制</a:t>
            </a:r>
            <a:endParaRPr lang="en-US" sz="3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560320" cy="411480"/>
          </a:xfrm>
          <a:prstGeom prst="rect">
            <a:avLst/>
          </a:prstGeom>
          <a:solidFill>
            <a:srgbClr val="10233C"/>
          </a:solidFill>
          <a:ln w="12700">
            <a:solidFill>
              <a:srgbClr val="36C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使用者資料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029968"/>
            <a:ext cx="24688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模擬旅遊行為資料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預算、時間、天氣、體力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對景點特徵的偏好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0" y="1463040"/>
            <a:ext cx="2560320" cy="411480"/>
          </a:xfrm>
          <a:prstGeom prst="rect">
            <a:avLst/>
          </a:prstGeom>
          <a:solidFill>
            <a:srgbClr val="112A25"/>
          </a:solidFill>
          <a:ln w="12700">
            <a:solidFill>
              <a:srgbClr val="7CFFB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景點資料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0" y="2029968"/>
            <a:ext cx="25603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模擬景點資料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OpenStreetMap 真實 POI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名稱、座標、地址、網站等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0" y="1463040"/>
            <a:ext cx="4389120" cy="411480"/>
          </a:xfrm>
          <a:prstGeom prst="rect">
            <a:avLst/>
          </a:prstGeom>
          <a:solidFill>
            <a:srgbClr val="2B1B2A"/>
          </a:solidFill>
          <a:ln w="12700"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系統</a:t>
            </a: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限制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675120" y="2029968"/>
            <a:ext cx="438912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OSM 沒有完整評分、人氣、票價、訂票狀態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cost、popularity、estimated_time 仍是推估值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結果是系統原型，不是商業部署成果</a:t>
            </a:r>
            <a:endParaRPr lang="en-US" sz="16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AC55F9A2-4631-4441-B800-B7CE4EB51A43}"/>
              </a:ext>
            </a:extLst>
          </p:cNvPr>
          <p:cNvSpPr/>
          <p:nvPr/>
        </p:nvSpPr>
        <p:spPr>
          <a:xfrm>
            <a:off x="502920" y="3493008"/>
            <a:ext cx="5340096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OSM 資料如何轉成專案格式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3B58DE36-7A9D-479C-8A95-EBBB9595FED3}"/>
              </a:ext>
            </a:extLst>
          </p:cNvPr>
          <p:cNvSpPr/>
          <p:nvPr/>
        </p:nvSpPr>
        <p:spPr>
          <a:xfrm>
            <a:off x="548640" y="4434840"/>
            <a:ext cx="1920240" cy="1527048"/>
          </a:xfrm>
          <a:prstGeom prst="rect">
            <a:avLst/>
          </a:prstGeom>
          <a:solidFill>
            <a:srgbClr val="0B223A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3A4C23F-4A54-4CC4-9112-CFF90DB0FB45}"/>
              </a:ext>
            </a:extLst>
          </p:cNvPr>
          <p:cNvSpPr/>
          <p:nvPr/>
        </p:nvSpPr>
        <p:spPr>
          <a:xfrm>
            <a:off x="640080" y="4544568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Overpass API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26DE788F-3546-4A02-A5EE-FA3D74717297}"/>
              </a:ext>
            </a:extLst>
          </p:cNvPr>
          <p:cNvSpPr/>
          <p:nvPr/>
        </p:nvSpPr>
        <p:spPr>
          <a:xfrm>
            <a:off x="667512" y="4873752"/>
            <a:ext cx="1682496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抓取 OSM POI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 tags / 座標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35C75910-1A82-4337-82BB-A9B96198A41E}"/>
              </a:ext>
            </a:extLst>
          </p:cNvPr>
          <p:cNvSpPr/>
          <p:nvPr/>
        </p:nvSpPr>
        <p:spPr>
          <a:xfrm>
            <a:off x="2535936" y="5029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→</a:t>
            </a: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0FC47E82-B4DA-4BB3-AD1D-E5B2E2A8AB97}"/>
              </a:ext>
            </a:extLst>
          </p:cNvPr>
          <p:cNvSpPr/>
          <p:nvPr/>
        </p:nvSpPr>
        <p:spPr>
          <a:xfrm>
            <a:off x="2907792" y="4434840"/>
            <a:ext cx="1920240" cy="1527048"/>
          </a:xfrm>
          <a:prstGeom prst="rect">
            <a:avLst/>
          </a:prstGeom>
          <a:solidFill>
            <a:srgbClr val="0D2A22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0A4801EB-06BC-49BD-8AEB-8C3A5BCA20DD}"/>
              </a:ext>
            </a:extLst>
          </p:cNvPr>
          <p:cNvSpPr/>
          <p:nvPr/>
        </p:nvSpPr>
        <p:spPr>
          <a:xfrm>
            <a:off x="2999232" y="4544568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類別判斷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0F4C3FE2-11D0-402A-AA7A-CD8A73529EE6}"/>
              </a:ext>
            </a:extLst>
          </p:cNvPr>
          <p:cNvSpPr/>
          <p:nvPr/>
        </p:nvSpPr>
        <p:spPr>
          <a:xfrm>
            <a:off x="3026664" y="4873752"/>
            <a:ext cx="1682496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tourism / amenities/ shop / historic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3" name="Shape 22">
            <a:extLst>
              <a:ext uri="{FF2B5EF4-FFF2-40B4-BE49-F238E27FC236}">
                <a16:creationId xmlns:a16="http://schemas.microsoft.com/office/drawing/2014/main" id="{CAFF299C-86CD-4C93-A8FB-745546A36A30}"/>
              </a:ext>
            </a:extLst>
          </p:cNvPr>
          <p:cNvSpPr/>
          <p:nvPr/>
        </p:nvSpPr>
        <p:spPr>
          <a:xfrm>
            <a:off x="5266944" y="4434840"/>
            <a:ext cx="2057400" cy="1527048"/>
          </a:xfrm>
          <a:prstGeom prst="rect">
            <a:avLst/>
          </a:prstGeom>
          <a:solidFill>
            <a:srgbClr val="2C230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B343D5BF-7EA9-489D-AA74-C571D1C43587}"/>
              </a:ext>
            </a:extLst>
          </p:cNvPr>
          <p:cNvSpPr/>
          <p:nvPr/>
        </p:nvSpPr>
        <p:spPr>
          <a:xfrm>
            <a:off x="5358384" y="4544568"/>
            <a:ext cx="18745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特徵推估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EB2F6118-A756-4D74-A09A-E6F77AFFED0E}"/>
              </a:ext>
            </a:extLst>
          </p:cNvPr>
          <p:cNvSpPr/>
          <p:nvPr/>
        </p:nvSpPr>
        <p:spPr>
          <a:xfrm>
            <a:off x="5385816" y="4873752"/>
            <a:ext cx="1819656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依類別 profile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轉成 0 到 5 分數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CB4D9A44-2028-4D24-8E70-B8189EF6B688}"/>
              </a:ext>
            </a:extLst>
          </p:cNvPr>
          <p:cNvSpPr/>
          <p:nvPr/>
        </p:nvSpPr>
        <p:spPr>
          <a:xfrm>
            <a:off x="7763256" y="4434840"/>
            <a:ext cx="1773936" cy="1527048"/>
          </a:xfrm>
          <a:prstGeom prst="rect">
            <a:avLst/>
          </a:prstGeom>
          <a:solidFill>
            <a:srgbClr val="2A1526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AE1E0310-F3F5-4FDA-9826-7E251ABBECE3}"/>
              </a:ext>
            </a:extLst>
          </p:cNvPr>
          <p:cNvSpPr/>
          <p:nvPr/>
        </p:nvSpPr>
        <p:spPr>
          <a:xfrm>
            <a:off x="7854696" y="4544568"/>
            <a:ext cx="1563624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Tag 調整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2CA47DD1-CFC7-423E-9A78-80F2ECAFF279}"/>
              </a:ext>
            </a:extLst>
          </p:cNvPr>
          <p:cNvSpPr/>
          <p:nvPr/>
        </p:nvSpPr>
        <p:spPr>
          <a:xfrm>
            <a:off x="7882128" y="4873752"/>
            <a:ext cx="1536192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fee / indoor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historic / longitude</a:t>
            </a:r>
          </a:p>
        </p:txBody>
      </p:sp>
      <p:sp>
        <p:nvSpPr>
          <p:cNvPr id="31" name="Shape 30">
            <a:extLst>
              <a:ext uri="{FF2B5EF4-FFF2-40B4-BE49-F238E27FC236}">
                <a16:creationId xmlns:a16="http://schemas.microsoft.com/office/drawing/2014/main" id="{9813BFF7-5B9E-46CE-A073-D4B9A2B8B8BF}"/>
              </a:ext>
            </a:extLst>
          </p:cNvPr>
          <p:cNvSpPr/>
          <p:nvPr/>
        </p:nvSpPr>
        <p:spPr>
          <a:xfrm>
            <a:off x="9976104" y="4434840"/>
            <a:ext cx="1655064" cy="1527048"/>
          </a:xfrm>
          <a:prstGeom prst="rect">
            <a:avLst/>
          </a:prstGeom>
          <a:solidFill>
            <a:srgbClr val="111827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DC01C3CB-DAD4-4798-AEF9-023493FD07E2}"/>
              </a:ext>
            </a:extLst>
          </p:cNvPr>
          <p:cNvSpPr/>
          <p:nvPr/>
        </p:nvSpPr>
        <p:spPr>
          <a:xfrm>
            <a:off x="10305288" y="4544568"/>
            <a:ext cx="1005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 CSV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3" name="Text 32">
            <a:extLst>
              <a:ext uri="{FF2B5EF4-FFF2-40B4-BE49-F238E27FC236}">
                <a16:creationId xmlns:a16="http://schemas.microsoft.com/office/drawing/2014/main" id="{4AF308E6-6216-4B7E-BEA1-9E37B7CB951E}"/>
              </a:ext>
            </a:extLst>
          </p:cNvPr>
          <p:cNvSpPr/>
          <p:nvPr/>
        </p:nvSpPr>
        <p:spPr>
          <a:xfrm>
            <a:off x="10094976" y="4873752"/>
            <a:ext cx="14173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attractions.csv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接推薦流程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B15094B6-5378-4D1A-873D-DE480CEEAE81}"/>
              </a:ext>
            </a:extLst>
          </p:cNvPr>
          <p:cNvSpPr/>
          <p:nvPr/>
        </p:nvSpPr>
        <p:spPr>
          <a:xfrm>
            <a:off x="4887468" y="5029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→</a:t>
            </a: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CF0CDA41-EB74-4FC6-989E-61CA7B357629}"/>
              </a:ext>
            </a:extLst>
          </p:cNvPr>
          <p:cNvSpPr/>
          <p:nvPr/>
        </p:nvSpPr>
        <p:spPr>
          <a:xfrm>
            <a:off x="7383780" y="50154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→</a:t>
            </a:r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81C5354D-4A9E-40F1-855F-66F5D163E626}"/>
              </a:ext>
            </a:extLst>
          </p:cNvPr>
          <p:cNvSpPr/>
          <p:nvPr/>
        </p:nvSpPr>
        <p:spPr>
          <a:xfrm>
            <a:off x="9596628" y="5029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Cluster 怎麼來：不是憑空分類</a:t>
            </a:r>
            <a:endParaRPr 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2194560" cy="822960"/>
          </a:xfrm>
          <a:prstGeom prst="rect">
            <a:avLst/>
          </a:prstGeom>
          <a:solidFill>
            <a:srgbClr val="10233C"/>
          </a:solidFill>
          <a:ln w="12700">
            <a:solidFill>
              <a:srgbClr val="36C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一批使用者資料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46120" y="1572768"/>
            <a:ext cx="2468880" cy="822960"/>
          </a:xfrm>
          <a:prstGeom prst="rect">
            <a:avLst/>
          </a:prstGeom>
          <a:solidFill>
            <a:srgbClr val="151B2D"/>
          </a:solidFill>
          <a:ln w="12700">
            <a:solidFill>
              <a:srgbClr val="B7C0D4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GMM 找出常見偏好族群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80760" y="1572768"/>
            <a:ext cx="2240280" cy="822960"/>
          </a:xfrm>
          <a:prstGeom prst="rect">
            <a:avLst/>
          </a:prstGeom>
          <a:solidFill>
            <a:srgbClr val="112A25"/>
          </a:solidFill>
          <a:ln w="12700">
            <a:solidFill>
              <a:srgbClr val="7CFFB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3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新使用者輸入條件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0" y="1572768"/>
            <a:ext cx="2514600" cy="822960"/>
          </a:xfrm>
          <a:prstGeom prst="rect">
            <a:avLst/>
          </a:prstGeom>
          <a:solidFill>
            <a:srgbClr val="302317"/>
          </a:solidFill>
          <a:ln w="12700">
            <a:solidFill>
              <a:srgbClr val="FFB8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輸出各 cluster 機率與信心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971800" y="179222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C2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→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760720" y="179222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C2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→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389620" y="1792224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C2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→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" y="3611880"/>
            <a:ext cx="996696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完全沒有訓練資料時，cluster-only 不能</a:t>
            </a:r>
            <a:r>
              <a:rPr lang="zh-TW" alt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使用</a:t>
            </a: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；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它的價值是在已有初始資料後，輔助新使用者或資料不足使用者。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200" b="1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推薦方法比較</a:t>
            </a:r>
            <a:endParaRPr lang="en-US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BCD4400F-BBF8-4932-927B-C36AD6A6B442}"/>
              </a:ext>
            </a:extLst>
          </p:cNvPr>
          <p:cNvSpPr/>
          <p:nvPr/>
        </p:nvSpPr>
        <p:spPr>
          <a:xfrm>
            <a:off x="502920" y="1417319"/>
            <a:ext cx="5166360" cy="2059305"/>
          </a:xfrm>
          <a:prstGeom prst="roundRect">
            <a:avLst/>
          </a:prstGeom>
          <a:solidFill>
            <a:srgbClr val="111B2E"/>
          </a:solidFill>
          <a:ln w="17780">
            <a:solidFill>
              <a:srgbClr val="2D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l">
              <a:lnSpc>
                <a:spcPct val="150000"/>
              </a:lnSpc>
            </a:pPr>
            <a:r>
              <a:rPr sz="1600" b="1" dirty="0">
                <a:solidFill>
                  <a:srgbClr val="2DBE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Personal-only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直接看這個使用者自己的偏好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找出最像這些偏好的景點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不負責分類</a:t>
            </a:r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179F1971-E11E-4E50-91EB-674B139CC433}"/>
              </a:ext>
            </a:extLst>
          </p:cNvPr>
          <p:cNvSpPr/>
          <p:nvPr/>
        </p:nvSpPr>
        <p:spPr>
          <a:xfrm>
            <a:off x="5989320" y="1417319"/>
            <a:ext cx="5166360" cy="2059305"/>
          </a:xfrm>
          <a:prstGeom prst="roundRect">
            <a:avLst/>
          </a:prstGeom>
          <a:solidFill>
            <a:srgbClr val="111B2E"/>
          </a:solidFill>
          <a:ln w="17780">
            <a:solidFill>
              <a:srgbClr val="4DE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l">
              <a:lnSpc>
                <a:spcPct val="150000"/>
              </a:lnSpc>
            </a:pPr>
            <a:r>
              <a:rPr sz="1600" b="1" dirty="0">
                <a:solidFill>
                  <a:srgbClr val="4DE69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Cluster-only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先判斷使用者像哪一群人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用該群體的平均偏好推薦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解釋使用者類型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9A04587A-3954-4276-9DE0-0FC1F935D692}"/>
              </a:ext>
            </a:extLst>
          </p:cNvPr>
          <p:cNvSpPr/>
          <p:nvPr/>
        </p:nvSpPr>
        <p:spPr>
          <a:xfrm>
            <a:off x="502920" y="3865244"/>
            <a:ext cx="5166360" cy="2059305"/>
          </a:xfrm>
          <a:prstGeom prst="roundRect">
            <a:avLst/>
          </a:prstGeom>
          <a:solidFill>
            <a:srgbClr val="111B2E"/>
          </a:solidFill>
          <a:ln w="17780">
            <a:solidFill>
              <a:srgbClr val="A5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l">
              <a:lnSpc>
                <a:spcPct val="150000"/>
              </a:lnSpc>
            </a:pPr>
            <a:r>
              <a:rPr sz="1600" b="1" dirty="0">
                <a:solidFill>
                  <a:srgbClr val="A582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Collaborative-only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參考同 cluster 使用者的互動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看相似使用者給哪些景點較高分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展示「相似的人也喜歡」概念</a:t>
            </a:r>
          </a:p>
        </p:txBody>
      </p:sp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A9F47E9B-3A07-4FEF-94BA-52ED0654AA45}"/>
              </a:ext>
            </a:extLst>
          </p:cNvPr>
          <p:cNvSpPr/>
          <p:nvPr/>
        </p:nvSpPr>
        <p:spPr>
          <a:xfrm>
            <a:off x="5989320" y="3865244"/>
            <a:ext cx="5166360" cy="2059305"/>
          </a:xfrm>
          <a:prstGeom prst="roundRect">
            <a:avLst/>
          </a:prstGeom>
          <a:solidFill>
            <a:srgbClr val="111B2E"/>
          </a:solidFill>
          <a:ln w="17780">
            <a:solidFill>
              <a:srgbClr val="F5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28016" rIns="164592" bIns="91440" rtlCol="0" anchor="ctr"/>
          <a:lstStyle/>
          <a:p>
            <a:pPr algn="l">
              <a:lnSpc>
                <a:spcPct val="150000"/>
              </a:lnSpc>
            </a:pPr>
            <a:r>
              <a:rPr sz="1600" b="1" dirty="0">
                <a:solidFill>
                  <a:srgbClr val="F5BE4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Hybrid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混合個人偏好、cluster 偏好與互動資訊</a:t>
            </a:r>
          </a:p>
          <a:p>
            <a:pPr>
              <a:lnSpc>
                <a:spcPct val="150000"/>
              </a:lnSpc>
              <a:spcAft>
                <a:spcPts val="300"/>
              </a:spcAft>
              <a:defRPr sz="1320">
                <a:solidFill>
                  <a:srgbClr val="EEF2F8"/>
                </a:solidFill>
                <a:latin typeface="Microsoft JhengHei"/>
              </a:defRPr>
            </a:pPr>
            <a:r>
              <a:rPr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保留個人化，同時加入群體訊號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3">
            <a:extLst>
              <a:ext uri="{FF2B5EF4-FFF2-40B4-BE49-F238E27FC236}">
                <a16:creationId xmlns:a16="http://schemas.microsoft.com/office/drawing/2014/main" id="{0D32907A-08B0-47E4-A7D0-09573DE94D67}"/>
              </a:ext>
            </a:extLst>
          </p:cNvPr>
          <p:cNvSpPr/>
          <p:nvPr/>
        </p:nvSpPr>
        <p:spPr>
          <a:xfrm>
            <a:off x="731520" y="1417320"/>
            <a:ext cx="2971800" cy="310896"/>
          </a:xfrm>
          <a:prstGeom prst="rect">
            <a:avLst/>
          </a:prstGeom>
          <a:solidFill>
            <a:srgbClr val="47C7F4">
              <a:alpha val="28000"/>
            </a:srgbClr>
          </a:solidFill>
          <a:ln w="15240">
            <a:solidFill>
              <a:srgbClr val="47C7F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現場操作做法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77279589-3620-46F5-934C-2B174F0C65C4}"/>
              </a:ext>
            </a:extLst>
          </p:cNvPr>
          <p:cNvSpPr/>
          <p:nvPr/>
        </p:nvSpPr>
        <p:spPr>
          <a:xfrm>
            <a:off x="731520" y="1965960"/>
            <a:ext cx="29718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輸入一組旅遊條件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查看最可能的 cluster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查看 cluster confidence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查看每一群 probability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C1C906C-2586-4DA0-83CB-848BBC0C2299}"/>
              </a:ext>
            </a:extLst>
          </p:cNvPr>
          <p:cNvSpPr/>
          <p:nvPr/>
        </p:nvSpPr>
        <p:spPr>
          <a:xfrm>
            <a:off x="4572000" y="1417320"/>
            <a:ext cx="2971800" cy="310896"/>
          </a:xfrm>
          <a:prstGeom prst="rect">
            <a:avLst/>
          </a:prstGeom>
          <a:solidFill>
            <a:srgbClr val="64F0B4">
              <a:alpha val="28000"/>
            </a:srgbClr>
          </a:solidFill>
          <a:ln w="15240">
            <a:solidFill>
              <a:srgbClr val="64F0B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示範情境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18BD3E91-57AD-445F-B673-55695725549B}"/>
              </a:ext>
            </a:extLst>
          </p:cNvPr>
          <p:cNvSpPr/>
          <p:nvPr/>
        </p:nvSpPr>
        <p:spPr>
          <a:xfrm>
            <a:off x="4572000" y="1965960"/>
            <a:ext cx="297180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天氣較差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體力</a:t>
            </a:r>
            <a:r>
              <a:rPr lang="zh-TW" alt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好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室內偏好高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文化偏好高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E6C081E7-4E12-4F36-9409-3D98466AC487}"/>
              </a:ext>
            </a:extLst>
          </p:cNvPr>
          <p:cNvSpPr/>
          <p:nvPr/>
        </p:nvSpPr>
        <p:spPr>
          <a:xfrm>
            <a:off x="8412480" y="1417320"/>
            <a:ext cx="2560320" cy="310896"/>
          </a:xfrm>
          <a:prstGeom prst="rect">
            <a:avLst/>
          </a:prstGeom>
          <a:solidFill>
            <a:srgbClr val="F5B84B">
              <a:alpha val="28000"/>
            </a:srgbClr>
          </a:solidFill>
          <a:ln w="15240">
            <a:solidFill>
              <a:srgbClr val="F5B84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結果解釋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EC2B11BE-C00D-4197-8142-A7C865BBAB9C}"/>
              </a:ext>
            </a:extLst>
          </p:cNvPr>
          <p:cNvSpPr/>
          <p:nvPr/>
        </p:nvSpPr>
        <p:spPr>
          <a:xfrm>
            <a:off x="8412480" y="1965960"/>
            <a:ext cx="256032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比較像哪些</a:t>
            </a:r>
            <a:r>
              <a:rPr lang="zh-TW" alt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旅遊</a:t>
            </a: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類型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模型</a:t>
            </a:r>
            <a:r>
              <a:rPr lang="zh-TW" alt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信心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A40B42ED-FE19-49D9-BF10-109D630ED176}"/>
              </a:ext>
            </a:extLst>
          </p:cNvPr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32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Demo 1：輸入條件 → cluster probability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FFAF4102-9AA5-4ADC-B090-B81FD1138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180352"/>
              </p:ext>
            </p:extLst>
          </p:nvPr>
        </p:nvGraphicFramePr>
        <p:xfrm>
          <a:off x="0" y="1187116"/>
          <a:ext cx="12192000" cy="5670882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32341">
                  <a:extLst>
                    <a:ext uri="{9D8B030D-6E8A-4147-A177-3AD203B41FA5}">
                      <a16:colId xmlns:a16="http://schemas.microsoft.com/office/drawing/2014/main" val="3386835283"/>
                    </a:ext>
                  </a:extLst>
                </a:gridCol>
                <a:gridCol w="1110076">
                  <a:extLst>
                    <a:ext uri="{9D8B030D-6E8A-4147-A177-3AD203B41FA5}">
                      <a16:colId xmlns:a16="http://schemas.microsoft.com/office/drawing/2014/main" val="3661973194"/>
                    </a:ext>
                  </a:extLst>
                </a:gridCol>
                <a:gridCol w="822929">
                  <a:extLst>
                    <a:ext uri="{9D8B030D-6E8A-4147-A177-3AD203B41FA5}">
                      <a16:colId xmlns:a16="http://schemas.microsoft.com/office/drawing/2014/main" val="3084375768"/>
                    </a:ext>
                  </a:extLst>
                </a:gridCol>
                <a:gridCol w="606277">
                  <a:extLst>
                    <a:ext uri="{9D8B030D-6E8A-4147-A177-3AD203B41FA5}">
                      <a16:colId xmlns:a16="http://schemas.microsoft.com/office/drawing/2014/main" val="888275005"/>
                    </a:ext>
                  </a:extLst>
                </a:gridCol>
                <a:gridCol w="940057">
                  <a:extLst>
                    <a:ext uri="{9D8B030D-6E8A-4147-A177-3AD203B41FA5}">
                      <a16:colId xmlns:a16="http://schemas.microsoft.com/office/drawing/2014/main" val="1475293849"/>
                    </a:ext>
                  </a:extLst>
                </a:gridCol>
                <a:gridCol w="695689">
                  <a:extLst>
                    <a:ext uri="{9D8B030D-6E8A-4147-A177-3AD203B41FA5}">
                      <a16:colId xmlns:a16="http://schemas.microsoft.com/office/drawing/2014/main" val="3829061380"/>
                    </a:ext>
                  </a:extLst>
                </a:gridCol>
                <a:gridCol w="832419">
                  <a:extLst>
                    <a:ext uri="{9D8B030D-6E8A-4147-A177-3AD203B41FA5}">
                      <a16:colId xmlns:a16="http://schemas.microsoft.com/office/drawing/2014/main" val="954841464"/>
                    </a:ext>
                  </a:extLst>
                </a:gridCol>
                <a:gridCol w="1271705">
                  <a:extLst>
                    <a:ext uri="{9D8B030D-6E8A-4147-A177-3AD203B41FA5}">
                      <a16:colId xmlns:a16="http://schemas.microsoft.com/office/drawing/2014/main" val="460148447"/>
                    </a:ext>
                  </a:extLst>
                </a:gridCol>
                <a:gridCol w="773064">
                  <a:extLst>
                    <a:ext uri="{9D8B030D-6E8A-4147-A177-3AD203B41FA5}">
                      <a16:colId xmlns:a16="http://schemas.microsoft.com/office/drawing/2014/main" val="1811724357"/>
                    </a:ext>
                  </a:extLst>
                </a:gridCol>
                <a:gridCol w="565010">
                  <a:extLst>
                    <a:ext uri="{9D8B030D-6E8A-4147-A177-3AD203B41FA5}">
                      <a16:colId xmlns:a16="http://schemas.microsoft.com/office/drawing/2014/main" val="2263890200"/>
                    </a:ext>
                  </a:extLst>
                </a:gridCol>
                <a:gridCol w="707863">
                  <a:extLst>
                    <a:ext uri="{9D8B030D-6E8A-4147-A177-3AD203B41FA5}">
                      <a16:colId xmlns:a16="http://schemas.microsoft.com/office/drawing/2014/main" val="2238812309"/>
                    </a:ext>
                  </a:extLst>
                </a:gridCol>
                <a:gridCol w="790947">
                  <a:extLst>
                    <a:ext uri="{9D8B030D-6E8A-4147-A177-3AD203B41FA5}">
                      <a16:colId xmlns:a16="http://schemas.microsoft.com/office/drawing/2014/main" val="4159945673"/>
                    </a:ext>
                  </a:extLst>
                </a:gridCol>
                <a:gridCol w="827056">
                  <a:extLst>
                    <a:ext uri="{9D8B030D-6E8A-4147-A177-3AD203B41FA5}">
                      <a16:colId xmlns:a16="http://schemas.microsoft.com/office/drawing/2014/main" val="1375545915"/>
                    </a:ext>
                  </a:extLst>
                </a:gridCol>
                <a:gridCol w="621753">
                  <a:extLst>
                    <a:ext uri="{9D8B030D-6E8A-4147-A177-3AD203B41FA5}">
                      <a16:colId xmlns:a16="http://schemas.microsoft.com/office/drawing/2014/main" val="3835636689"/>
                    </a:ext>
                  </a:extLst>
                </a:gridCol>
                <a:gridCol w="1094814">
                  <a:extLst>
                    <a:ext uri="{9D8B030D-6E8A-4147-A177-3AD203B41FA5}">
                      <a16:colId xmlns:a16="http://schemas.microsoft.com/office/drawing/2014/main" val="2663823160"/>
                    </a:ext>
                  </a:extLst>
                </a:gridCol>
              </a:tblGrid>
              <a:tr h="63009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編號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預期類型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Budget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Weather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Social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Fatigue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Spontaneity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Indoor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Cost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Photo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Nature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Culture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Food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Popularity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960631159"/>
                  </a:ext>
                </a:extLst>
              </a:tr>
              <a:tr h="6300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自然景點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1000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1.5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102874527"/>
                  </a:ext>
                </a:extLst>
              </a:tr>
              <a:tr h="6300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室內文化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1200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0.9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553589936"/>
                  </a:ext>
                </a:extLst>
              </a:tr>
              <a:tr h="6300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美食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1500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664913152"/>
                  </a:ext>
                </a:extLst>
              </a:tr>
              <a:tr h="6300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拍照打卡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1800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552992056"/>
                  </a:ext>
                </a:extLst>
              </a:tr>
              <a:tr h="6300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高消費型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898485229"/>
                  </a:ext>
                </a:extLst>
              </a:tr>
              <a:tr h="6300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熱門景點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2000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375673523"/>
                  </a:ext>
                </a:extLst>
              </a:tr>
              <a:tr h="6300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低消費輕旅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500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207544537"/>
                  </a:ext>
                </a:extLst>
              </a:tr>
              <a:tr h="63009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無偏好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1500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2.5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430967825"/>
                  </a:ext>
                </a:extLst>
              </a:tr>
            </a:tbl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CF017998-EB63-4C74-B774-0D512F110FCA}"/>
              </a:ext>
            </a:extLst>
          </p:cNvPr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測試用參數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1970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3">
            <a:extLst>
              <a:ext uri="{FF2B5EF4-FFF2-40B4-BE49-F238E27FC236}">
                <a16:creationId xmlns:a16="http://schemas.microsoft.com/office/drawing/2014/main" id="{BABA8E2A-F561-463D-A7AF-891A4846A080}"/>
              </a:ext>
            </a:extLst>
          </p:cNvPr>
          <p:cNvSpPr/>
          <p:nvPr/>
        </p:nvSpPr>
        <p:spPr>
          <a:xfrm>
            <a:off x="731520" y="1417320"/>
            <a:ext cx="2971800" cy="310896"/>
          </a:xfrm>
          <a:prstGeom prst="rect">
            <a:avLst/>
          </a:prstGeom>
          <a:solidFill>
            <a:srgbClr val="64F0B4">
              <a:alpha val="28000"/>
            </a:srgbClr>
          </a:solidFill>
          <a:ln w="15240">
            <a:solidFill>
              <a:srgbClr val="64F0B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推薦表格看什麼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D6D35CB-3334-4870-B8B4-2C20832AC779}"/>
              </a:ext>
            </a:extLst>
          </p:cNvPr>
          <p:cNvSpPr/>
          <p:nvPr/>
        </p:nvSpPr>
        <p:spPr>
          <a:xfrm>
            <a:off x="731520" y="1965960"/>
            <a:ext cx="29718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景點名稱與類型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recommendation score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室內、文化、自然、美食等特徵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estimated_time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9385574-FA63-4361-BD45-D0E46383CB5A}"/>
              </a:ext>
            </a:extLst>
          </p:cNvPr>
          <p:cNvSpPr/>
          <p:nvPr/>
        </p:nvSpPr>
        <p:spPr>
          <a:xfrm>
            <a:off x="4393692" y="1417320"/>
            <a:ext cx="3236976" cy="310896"/>
          </a:xfrm>
          <a:prstGeom prst="rect">
            <a:avLst/>
          </a:prstGeom>
          <a:solidFill>
            <a:srgbClr val="47C7F4">
              <a:alpha val="28000"/>
            </a:srgbClr>
          </a:solidFill>
          <a:ln w="15240">
            <a:solidFill>
              <a:srgbClr val="47C7F4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推薦邏輯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71A8CEAF-29BA-4517-A5F5-21A653C010A9}"/>
              </a:ext>
            </a:extLst>
          </p:cNvPr>
          <p:cNvSpPr/>
          <p:nvPr/>
        </p:nvSpPr>
        <p:spPr>
          <a:xfrm>
            <a:off x="4393692" y="1965960"/>
            <a:ext cx="323697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目前 App 展示 cluster-based 推薦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用使用者所屬 cluster 的平均偏好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與景點特徵比較後排序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0558244-8CD2-4C88-9883-5839086E9E06}"/>
              </a:ext>
            </a:extLst>
          </p:cNvPr>
          <p:cNvSpPr/>
          <p:nvPr/>
        </p:nvSpPr>
        <p:spPr>
          <a:xfrm>
            <a:off x="8321040" y="1417320"/>
            <a:ext cx="2834640" cy="310896"/>
          </a:xfrm>
          <a:prstGeom prst="rect">
            <a:avLst/>
          </a:prstGeom>
          <a:solidFill>
            <a:srgbClr val="F5B84B">
              <a:alpha val="28000"/>
            </a:srgbClr>
          </a:solidFill>
          <a:ln w="15240">
            <a:solidFill>
              <a:srgbClr val="F5B84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zh-TW" alt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1253D87A-AE43-41E5-AD8B-6FF96DA96367}"/>
              </a:ext>
            </a:extLst>
          </p:cNvPr>
          <p:cNvSpPr/>
          <p:nvPr/>
        </p:nvSpPr>
        <p:spPr>
          <a:xfrm>
            <a:off x="8321040" y="1965960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使用者可以回頭看 cluster 特徵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檢查推薦是否合理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46DDAB7D-4804-40BA-AD35-2B76CBC8A47C}"/>
              </a:ext>
            </a:extLst>
          </p:cNvPr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3200" b="1" dirty="0">
                <a:solidFill>
                  <a:srgbClr val="F3F6FB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 pitchFamily="34" charset="-120"/>
              </a:rPr>
              <a:t>Demo 2：推薦景點與推薦理由</a:t>
            </a:r>
            <a:endParaRPr lang="en-US" altLang="zh-TW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Heatmap 與方法比較</a:t>
            </a:r>
            <a:endParaRPr 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72" name="表格 72">
            <a:extLst>
              <a:ext uri="{FF2B5EF4-FFF2-40B4-BE49-F238E27FC236}">
                <a16:creationId xmlns:a16="http://schemas.microsoft.com/office/drawing/2014/main" id="{D9785415-D888-4ABD-B9B2-C4C31E314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985329"/>
              </p:ext>
            </p:extLst>
          </p:nvPr>
        </p:nvGraphicFramePr>
        <p:xfrm>
          <a:off x="1" y="1143000"/>
          <a:ext cx="12192000" cy="5715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480181">
                  <a:extLst>
                    <a:ext uri="{9D8B030D-6E8A-4147-A177-3AD203B41FA5}">
                      <a16:colId xmlns:a16="http://schemas.microsoft.com/office/drawing/2014/main" val="3367923413"/>
                    </a:ext>
                  </a:extLst>
                </a:gridCol>
                <a:gridCol w="1658700">
                  <a:extLst>
                    <a:ext uri="{9D8B030D-6E8A-4147-A177-3AD203B41FA5}">
                      <a16:colId xmlns:a16="http://schemas.microsoft.com/office/drawing/2014/main" val="745699523"/>
                    </a:ext>
                  </a:extLst>
                </a:gridCol>
                <a:gridCol w="1266823">
                  <a:extLst>
                    <a:ext uri="{9D8B030D-6E8A-4147-A177-3AD203B41FA5}">
                      <a16:colId xmlns:a16="http://schemas.microsoft.com/office/drawing/2014/main" val="976956932"/>
                    </a:ext>
                  </a:extLst>
                </a:gridCol>
                <a:gridCol w="1581008">
                  <a:extLst>
                    <a:ext uri="{9D8B030D-6E8A-4147-A177-3AD203B41FA5}">
                      <a16:colId xmlns:a16="http://schemas.microsoft.com/office/drawing/2014/main" val="4088742145"/>
                    </a:ext>
                  </a:extLst>
                </a:gridCol>
                <a:gridCol w="1635743">
                  <a:extLst>
                    <a:ext uri="{9D8B030D-6E8A-4147-A177-3AD203B41FA5}">
                      <a16:colId xmlns:a16="http://schemas.microsoft.com/office/drawing/2014/main" val="1388866597"/>
                    </a:ext>
                  </a:extLst>
                </a:gridCol>
                <a:gridCol w="1692008">
                  <a:extLst>
                    <a:ext uri="{9D8B030D-6E8A-4147-A177-3AD203B41FA5}">
                      <a16:colId xmlns:a16="http://schemas.microsoft.com/office/drawing/2014/main" val="2821069395"/>
                    </a:ext>
                  </a:extLst>
                </a:gridCol>
                <a:gridCol w="1421036">
                  <a:extLst>
                    <a:ext uri="{9D8B030D-6E8A-4147-A177-3AD203B41FA5}">
                      <a16:colId xmlns:a16="http://schemas.microsoft.com/office/drawing/2014/main" val="4019664594"/>
                    </a:ext>
                  </a:extLst>
                </a:gridCol>
                <a:gridCol w="1456501">
                  <a:extLst>
                    <a:ext uri="{9D8B030D-6E8A-4147-A177-3AD203B41FA5}">
                      <a16:colId xmlns:a16="http://schemas.microsoft.com/office/drawing/2014/main" val="65749834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soft_cluster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indoor_score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cost_level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photo_value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nature_value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culture_value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food_value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popularity</a:t>
                      </a:r>
                      <a:endParaRPr lang="en-US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139544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自然景點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-1.42294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-1.31117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-0.26918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1.911674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-1.08984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-1.01465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-1.02762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09100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文化探索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0.687066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-0.40041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-0.47364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-0.56858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1.825585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-0.81537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-0.44254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6443892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拍照打卡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-0.43914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-0.03099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1.718766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-0.25943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-0.08118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-0.29465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0.55209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7397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u="sng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  <a:r>
                        <a:rPr lang="zh-TW" altLang="en-US" sz="1600" b="1" u="sng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美食</a:t>
                      </a:r>
                      <a:endParaRPr lang="en-US" altLang="zh-TW" sz="1600" b="1" u="sng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u="none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-0.26095</a:t>
                      </a:r>
                      <a:endParaRPr lang="en-US" altLang="zh-TW" sz="1600" b="1" u="none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u="none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0.20724</a:t>
                      </a:r>
                      <a:endParaRPr lang="en-US" altLang="zh-TW" sz="1600" b="1" u="none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u="none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-0.69017</a:t>
                      </a:r>
                      <a:endParaRPr lang="en-US" altLang="zh-TW" sz="1600" b="1" u="none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u="none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-0.68922</a:t>
                      </a:r>
                      <a:endParaRPr lang="en-US" altLang="zh-TW" sz="1600" b="1" u="none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u="none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-0.64536</a:t>
                      </a:r>
                      <a:endParaRPr lang="en-US" altLang="zh-TW" sz="1600" b="1" u="none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u="none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2.224786</a:t>
                      </a:r>
                      <a:endParaRPr lang="en-US" altLang="zh-TW" sz="1600" b="1" u="none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u="none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-0.0527</a:t>
                      </a:r>
                      <a:endParaRPr lang="en-US" altLang="zh-TW" sz="1600" b="1" u="none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0284379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室內活動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1.625111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0.53959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-0.74924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-0.85548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0.390453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-0.11126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-0.32378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1090037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無偏好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0.002882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0.191917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-0.21667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0.418464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0.120717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0.18077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-0.20243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8960588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u="sng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  <a:r>
                        <a:rPr lang="zh-TW" altLang="en-US" sz="1600" b="1" u="sng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熱門</a:t>
                      </a:r>
                      <a:r>
                        <a:rPr lang="en-US" altLang="zh-TW" sz="1600" b="1" u="sng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&amp;</a:t>
                      </a:r>
                      <a:r>
                        <a:rPr lang="zh-TW" altLang="en-US" sz="1600" b="1" u="sng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高消費</a:t>
                      </a:r>
                      <a:endParaRPr lang="en-US" altLang="zh-TW" sz="1600" b="1" u="sng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0.354445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1.022081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0.698097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-0.46285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-0.23069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0.166702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1.736478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967029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u="sng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  <a:r>
                        <a:rPr lang="zh-TW" altLang="en-US" sz="1600" b="1" u="sng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美食</a:t>
                      </a:r>
                      <a:endParaRPr lang="en-US" altLang="zh-TW" sz="1600" b="1" u="sng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-0.25098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0.19644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-0.65033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-0.69054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-0.62193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1.720877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-0.0333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440006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606F1919-658B-40E7-A197-78207988DF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0269482"/>
              </p:ext>
            </p:extLst>
          </p:nvPr>
        </p:nvGraphicFramePr>
        <p:xfrm>
          <a:off x="0" y="1143000"/>
          <a:ext cx="121920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43C8643A-4ABC-42EA-A973-ECF30A4048D6}"/>
              </a:ext>
            </a:extLst>
          </p:cNvPr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Heatmap 與方法比較</a:t>
            </a:r>
            <a:endParaRPr 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0041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限制與結論：準確度不是唯一目標</a:t>
            </a:r>
            <a:endParaRPr lang="en-US" sz="3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3108960" cy="411480"/>
          </a:xfrm>
          <a:prstGeom prst="rect">
            <a:avLst/>
          </a:prstGeom>
          <a:solidFill>
            <a:srgbClr val="2B1B2A"/>
          </a:solidFill>
          <a:ln w="12700">
            <a:solidFill>
              <a:srgbClr val="FF6B6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限制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31089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使用者資料主要是模擬資料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OSM 沒有完整評分、人氣、票價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App 展示與離線評估需分開說明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26280" y="1417320"/>
            <a:ext cx="3108960" cy="411480"/>
          </a:xfrm>
          <a:prstGeom prst="rect">
            <a:avLst/>
          </a:prstGeom>
          <a:solidFill>
            <a:srgbClr val="10233C"/>
          </a:solidFill>
          <a:ln w="12700">
            <a:solidFill>
              <a:srgbClr val="36C2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未來方向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26280" y="1993392"/>
            <a:ext cx="31089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交通時間與地理距離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即時天氣與真實互動資料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Precision@K、NDCG、diversity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66760" y="1417320"/>
            <a:ext cx="3108960" cy="411480"/>
          </a:xfrm>
          <a:prstGeom prst="rect">
            <a:avLst/>
          </a:prstGeom>
          <a:solidFill>
            <a:srgbClr val="112A25"/>
          </a:solidFill>
          <a:ln w="12700">
            <a:solidFill>
              <a:srgbClr val="7CFFB2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本專題貢獻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366760" y="1993392"/>
            <a:ext cx="3108960" cy="1508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推薦景點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解釋使用者偏好族群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7FAFC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呈現模型信心與不確定性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750</Words>
  <Application>Microsoft Office PowerPoint</Application>
  <PresentationFormat>寬螢幕</PresentationFormat>
  <Paragraphs>374</Paragraphs>
  <Slides>12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Noto Sans CJK TC</vt:lpstr>
      <vt:lpstr>微軟正黑體</vt:lpstr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NTU Python Data Analysis and Machine Learning Applications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具可解釋性的 Soft Clustering 旅遊景點推薦與決策支援系統</dc:title>
  <dc:subject>Travel Recommendation System</dc:subject>
  <dc:creator>B11508030 劉智昇、B11508023 許乃中、B11502142 高宇宏</dc:creator>
  <cp:lastModifiedBy>智昇 劉</cp:lastModifiedBy>
  <cp:revision>11</cp:revision>
  <dcterms:created xsi:type="dcterms:W3CDTF">2026-06-05T17:19:38Z</dcterms:created>
  <dcterms:modified xsi:type="dcterms:W3CDTF">2026-06-06T20:08:08Z</dcterms:modified>
</cp:coreProperties>
</file>